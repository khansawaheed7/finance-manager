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19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1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636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91840"/>
            <a:ext cx="1645920" cy="164592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Finance Engine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5326" y="85039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Forge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5326" y="18780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Budget Optimizer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5326" y="232154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to Empower your Financial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919738"/>
            <a:ext cx="196596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1973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</a:rPr>
              <a:t>0/1 Knapsack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O(n·W)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06040" y="2919738"/>
            <a:ext cx="196596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91973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</a:rPr>
              <a:t>Greedy Savings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O(n log n)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2919738"/>
            <a:ext cx="196596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91973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</a:rPr>
              <a:t>WMA Forecast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O(n)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12280" y="2919738"/>
            <a:ext cx="196596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91973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</a:rPr>
              <a:t>PQ Rebalance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O(n log n)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DSA Capstone Project  •  Single-Page Web App  •  PKR Currency</a:t>
            </a:r>
            <a:endParaRPr lang="en-US" sz="1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2D6C74A-1396-4517-B82F-9C86EFA23BD7}"/>
              </a:ext>
            </a:extLst>
          </p:cNvPr>
          <p:cNvSpPr/>
          <p:nvPr/>
        </p:nvSpPr>
        <p:spPr>
          <a:xfrm>
            <a:off x="470916" y="3551706"/>
            <a:ext cx="1828939" cy="955254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A417271-81AF-4C5A-8156-0FC3DF3608DE}"/>
              </a:ext>
            </a:extLst>
          </p:cNvPr>
          <p:cNvSpPr/>
          <p:nvPr/>
        </p:nvSpPr>
        <p:spPr>
          <a:xfrm>
            <a:off x="688157" y="3551706"/>
            <a:ext cx="1460684" cy="9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</a:rPr>
              <a:t>Team</a:t>
            </a:r>
            <a:r>
              <a:rPr lang="en-US" sz="1000" b="1" dirty="0">
                <a:solidFill>
                  <a:srgbClr val="93C5FD"/>
                </a:solidFill>
              </a:rPr>
              <a:t> Members: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Khansa Waheed 230982</a:t>
            </a:r>
          </a:p>
          <a:p>
            <a:pPr marL="0" indent="0">
              <a:buNone/>
            </a:pPr>
            <a:r>
              <a:rPr lang="en-US" sz="1000" dirty="0" err="1">
                <a:solidFill>
                  <a:schemeClr val="bg1">
                    <a:lumMod val="85000"/>
                  </a:schemeClr>
                </a:solidFill>
              </a:rPr>
              <a:t>Momna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 Nawaz 230981</a:t>
            </a:r>
          </a:p>
          <a:p>
            <a:pPr marL="0" indent="0">
              <a:buNone/>
            </a:pPr>
            <a:r>
              <a:rPr lang="en-US" sz="1000" dirty="0" err="1">
                <a:solidFill>
                  <a:schemeClr val="bg1">
                    <a:lumMod val="85000"/>
                  </a:schemeClr>
                </a:solidFill>
              </a:rPr>
              <a:t>Shiza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 Riaz 230932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25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3931920" cy="329184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Problem Statement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Managing a monthly salary effectively is a common struggle. People lack tools to:
</a:t>
            </a:r>
            <a:r>
              <a:rPr lang="en-US" sz="900" dirty="0">
                <a:solidFill>
                  <a:srgbClr val="000000"/>
                </a:solidFill>
              </a:rPr>
              <a:t>
</a:t>
            </a:r>
            <a:r>
              <a:rPr lang="en-US" sz="1600" dirty="0">
                <a:solidFill>
                  <a:srgbClr val="0F172A"/>
                </a:solidFill>
              </a:rPr>
              <a:t>• Prioritize which expenses to fund
• Allocate savings across multiple goals
• Predict future spending trends
• Rebalance budgets when overspending occurs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931920" cy="329184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34440"/>
            <a:ext cx="73152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Our Solution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Fiscal Forge is a single-page web app that applies four classic DSA algorithms to solve real-world personal finance challenges:
</a:t>
            </a:r>
            <a:r>
              <a:rPr lang="en-US" sz="900" dirty="0">
                <a:solidFill>
                  <a:srgbClr val="000000"/>
                </a:solidFill>
              </a:rPr>
              <a:t>
</a:t>
            </a:r>
            <a:r>
              <a:rPr lang="en-US" sz="1600" b="1" dirty="0">
                <a:solidFill>
                  <a:srgbClr val="0D9488"/>
                </a:solidFill>
              </a:rPr>
              <a:t>✓  0/1 Knapsack Optimizer
✓  Greedy Savings Planner
✓  WMA Trend Predictor
✓  Priority Queue Rebalancer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192024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r>
              <a:rPr lang="en-US" sz="1600" b="1" dirty="0">
                <a:solidFill>
                  <a:srgbClr val="FFFFFF"/>
                </a:solidFill>
              </a:rPr>
              <a:t>  </a:t>
            </a:r>
            <a:r>
              <a:rPr lang="en-US" sz="1200" dirty="0">
                <a:solidFill>
                  <a:srgbClr val="93C5FD"/>
                </a:solidFill>
              </a:rPr>
              <a:t>Expense Categories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4663440"/>
            <a:ext cx="192024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r>
              <a:rPr lang="en-US" sz="1300" b="1" dirty="0">
                <a:solidFill>
                  <a:srgbClr val="FFFFFF"/>
                </a:solidFill>
              </a:rPr>
              <a:t>  </a:t>
            </a:r>
            <a:r>
              <a:rPr lang="en-US" sz="1200" dirty="0">
                <a:solidFill>
                  <a:srgbClr val="93C5FD"/>
                </a:solidFill>
              </a:rPr>
              <a:t>DSA Algorithms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4663440"/>
            <a:ext cx="192024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PKR</a:t>
            </a:r>
            <a:r>
              <a:rPr lang="en-US" sz="1300" b="1" dirty="0">
                <a:solidFill>
                  <a:srgbClr val="FFFFFF"/>
                </a:solidFill>
              </a:rPr>
              <a:t>  </a:t>
            </a:r>
            <a:r>
              <a:rPr lang="en-US" sz="1200" dirty="0">
                <a:solidFill>
                  <a:srgbClr val="93C5FD"/>
                </a:solidFill>
              </a:rPr>
              <a:t>Currency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4663440"/>
            <a:ext cx="1920240" cy="3474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r>
              <a:rPr lang="en-US" sz="1400" b="1" dirty="0">
                <a:solidFill>
                  <a:srgbClr val="FFFFFF"/>
                </a:solidFill>
              </a:rPr>
              <a:t>00%  </a:t>
            </a:r>
            <a:r>
              <a:rPr lang="en-US" sz="1200" dirty="0">
                <a:solidFill>
                  <a:srgbClr val="93C5FD"/>
                </a:solidFill>
              </a:rPr>
              <a:t>Client-Side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Core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</a:t>
            </a:r>
            <a:r>
              <a:rPr lang="en-US" sz="1600" b="1" dirty="0">
                <a:solidFill>
                  <a:srgbClr val="FFFFFF"/>
                </a:solidFill>
              </a:rPr>
              <a:t>Budget Optimizer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" y="1609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Uses 0/1 Knapsack DP to select the optimal set of expense categories that maximizes total priority score without exceeding the monthly budget.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" y="2468880"/>
            <a:ext cx="3749040" cy="21945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2468880"/>
            <a:ext cx="3749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★ </a:t>
            </a:r>
            <a:r>
              <a:rPr lang="en-US" sz="1100" b="1" dirty="0">
                <a:solidFill>
                  <a:srgbClr val="2563EB"/>
                </a:solidFill>
              </a:rPr>
              <a:t>Benchmarks DP vs Greedy for transparency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88720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</a:t>
            </a:r>
            <a:r>
              <a:rPr lang="en-US" sz="1600" b="1" dirty="0">
                <a:solidFill>
                  <a:srgbClr val="FFFFFF"/>
                </a:solidFill>
              </a:rPr>
              <a:t>Savings Planner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28616" y="1609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Greedy algorithm allocates leftover budget to user-defined savings goals ranked by urgency score (priority ÷ remaining months).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28616" y="2468880"/>
            <a:ext cx="3749040" cy="219456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28616" y="2468880"/>
            <a:ext cx="3749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★ </a:t>
            </a:r>
            <a:r>
              <a:rPr lang="en-US" sz="1100" b="1" dirty="0">
                <a:solidFill>
                  <a:srgbClr val="0D9488"/>
                </a:solidFill>
              </a:rPr>
              <a:t>Handles multiple goals with deadlines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17520"/>
            <a:ext cx="41148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</a:t>
            </a:r>
            <a:r>
              <a:rPr lang="en-US" sz="1600" b="1" dirty="0">
                <a:solidFill>
                  <a:srgbClr val="FFFFFF"/>
                </a:solidFill>
              </a:rPr>
              <a:t>Trend Predictor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" y="34381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Applies a 3-month Weighted Moving Average (weights 1-2-3) to forecast upcoming expenses per category and flag spending risks</a:t>
            </a:r>
            <a:r>
              <a:rPr lang="en-US" sz="1050" dirty="0">
                <a:solidFill>
                  <a:srgbClr val="475569"/>
                </a:solidFill>
              </a:rPr>
              <a:t>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" y="4297680"/>
            <a:ext cx="3749040" cy="219456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4297680"/>
            <a:ext cx="3749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★ </a:t>
            </a:r>
            <a:r>
              <a:rPr lang="en-US" sz="1100" b="1" dirty="0">
                <a:solidFill>
                  <a:srgbClr val="D97706"/>
                </a:solidFill>
              </a:rPr>
              <a:t>Visual trend indicators per category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4114800" cy="160020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17520"/>
            <a:ext cx="411480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</a:t>
            </a:r>
            <a:r>
              <a:rPr lang="en-US" sz="1600" b="1" dirty="0">
                <a:solidFill>
                  <a:srgbClr val="FFFFFF"/>
                </a:solidFill>
              </a:rPr>
              <a:t>Budget Rebalancer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28616" y="34381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Priority queue sorts actual spending vs budgeted amounts; lowest-priority categories are trimmed first when total spending exceeds the budget.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28616" y="4297680"/>
            <a:ext cx="3749040" cy="219456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28616" y="4297680"/>
            <a:ext cx="3749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★ </a:t>
            </a:r>
            <a:r>
              <a:rPr lang="en-US" sz="1100" b="1" dirty="0">
                <a:solidFill>
                  <a:srgbClr val="8B5CF6"/>
                </a:solidFill>
              </a:rPr>
              <a:t>Suggests exact cut amounts per category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Algorithm: 0/1 Knapsack Optimizer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</a:rPr>
              <a:t>How it Works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expense is treated as an item with:
</a:t>
            </a:r>
            <a:r>
              <a:rPr lang="en-US" sz="1400" dirty="0">
                <a:solidFill>
                  <a:srgbClr val="0F172A"/>
                </a:solidFill>
              </a:rPr>
              <a:t>• Weight = cost ÷ 100 (unit scale)
• Value = priority score (1–10)
</a:t>
            </a:r>
            <a:r>
              <a:rPr lang="en-US" sz="1400" dirty="0">
                <a:solidFill>
                  <a:srgbClr val="475569"/>
                </a:solidFill>
              </a:rPr>
              <a:t>The DP table finds the optimal selection of expenses maximizing total priority within the budget (knapsack capacity).
</a:t>
            </a:r>
            <a:r>
              <a:rPr lang="en-US" sz="1400" b="1" dirty="0">
                <a:solidFill>
                  <a:srgbClr val="2563EB"/>
                </a:solidFill>
              </a:rPr>
              <a:t>Complexity: O(n·W)  where W = budget/100
</a:t>
            </a:r>
            <a:r>
              <a:rPr lang="en-US" sz="1400" dirty="0">
                <a:solidFill>
                  <a:srgbClr val="64748B"/>
                </a:solidFill>
              </a:rPr>
              <a:t>Benchmarked vs Greedy O(n log n) heuristic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Sample Expense Priority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Rent / Housing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572768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572768"/>
            <a:ext cx="1728216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508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9110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Food &amp; Groceries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1975104"/>
            <a:ext cx="1536192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19110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Transport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377440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377440"/>
            <a:ext cx="1344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313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Electricity &amp; Gas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779776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2779776"/>
            <a:ext cx="1728216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2715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Internet &amp; Phone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182112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3182112"/>
            <a:ext cx="115214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3118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520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Education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3584448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9400" y="3584448"/>
            <a:ext cx="1536192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3520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922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Health &amp; Medical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3986784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400" y="3986784"/>
            <a:ext cx="1344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3922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325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Entertainment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4389120"/>
            <a:ext cx="1920240" cy="20116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29400" y="4389120"/>
            <a:ext cx="768096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43251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P:4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Savings Planner &amp; Trend Predictor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02336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</a:t>
            </a:r>
            <a:r>
              <a:rPr lang="en-US" sz="1600" b="1" dirty="0">
                <a:solidFill>
                  <a:srgbClr val="FFFFFF"/>
                </a:solidFill>
              </a:rPr>
              <a:t>Greedy Savings Planner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Goals are ranked by urgency score = priority ÷ months remaining. The greedy algorithm allocates leftover budget to the most urgent goal first</a:t>
            </a:r>
            <a:r>
              <a:rPr lang="en-US" sz="1050" dirty="0">
                <a:solidFill>
                  <a:srgbClr val="475569"/>
                </a:solidFill>
              </a:rPr>
              <a:t>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Urgency-Sorted Allocation: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65176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#1 Education Fee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688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Urgency 4.00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PKR 30,000 in 2 months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9184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#2 Emergency Fund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3284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Urgency 1.50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PKR 50,000 in 6 months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3192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68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#3 Travel Fund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968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Urgency 0.42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PKR 20,000 in 12 months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4023360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43000"/>
            <a:ext cx="402336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</a:t>
            </a:r>
            <a:r>
              <a:rPr lang="en-US" sz="1600" b="1" dirty="0">
                <a:solidFill>
                  <a:srgbClr val="FFFFFF"/>
                </a:solidFill>
              </a:rPr>
              <a:t>WMA Trend Predictor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627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3-month Weighted Moving Average (weights 1, 2, 3) predicts next month's spending per category and flags risks.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212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Formula: WMA = (1·M1 + 2·M2 + 3·M3) / 6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265967"/>
              </p:ext>
            </p:extLst>
          </p:nvPr>
        </p:nvGraphicFramePr>
        <p:xfrm>
          <a:off x="4800600" y="2606040"/>
          <a:ext cx="4137836" cy="2194560"/>
        </p:xfrm>
        <a:graphic>
          <a:graphicData uri="http://schemas.openxmlformats.org/drawingml/2006/table">
            <a:tbl>
              <a:tblPr/>
              <a:tblGrid>
                <a:gridCol w="89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Trend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Rent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25,000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25,000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25,500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25,333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▼ -0.7%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Food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11,000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12,500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12,000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▼ -4.0%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Transport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4,800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5,200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5,033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▼ -3.2%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Electricity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3,800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4,200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4,067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▼ -3.2%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Budget Rebalancer &amp; DP vs Greedy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023360" cy="42062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</a:t>
            </a:r>
            <a:r>
              <a:rPr lang="en-US" sz="1600" b="1" dirty="0">
                <a:solidFill>
                  <a:srgbClr val="FFFFFF"/>
                </a:solidFill>
              </a:rPr>
              <a:t>Priority Queue Rebalancer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When total actual spending exceeds the budget, a min-heap (sorted by priority) identifies the categories to trim, lowest priority first.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Example: PKR 2,900 overspent — suggested cuts: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606040"/>
            <a:ext cx="64008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42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Entertainment  (prio 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26426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✂ Cut PKR 1,500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Actual: PKR 5,500  →  Adjusted: PKR 4,000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46120"/>
            <a:ext cx="64008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826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Clothing  (prio 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3282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✂ Cut PKR 1,200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Actual: PKR 4,200  →  Adjusted: PKR 3,000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023360" cy="530352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86200"/>
            <a:ext cx="64008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227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Internet  (prio 6)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3922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✂ Cut PKR 200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Actual: PKR 3,200  →  Adjusted: PKR 3,000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4023360" cy="42062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43000"/>
            <a:ext cx="402336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DP vs Greedy Benchmark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1627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Both algorithms run on the same data. Results are compared side-by-side to show optimality gap</a:t>
            </a:r>
            <a:r>
              <a:rPr lang="en-US" sz="1050" dirty="0">
                <a:solidFill>
                  <a:srgbClr val="475569"/>
                </a:solidFill>
              </a:rPr>
              <a:t>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331720"/>
            <a:ext cx="402336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33172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404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0/1 Knapsack DP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Guaranteed optimal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52 pts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800600" y="3520440"/>
            <a:ext cx="402336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52044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593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Greedy Heuristic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Near-optimal fast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49 pts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800600" y="4663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DP consistently matches or beats greedy because it evaluates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possible item combinations, never missing the global optimum.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6286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&amp; Data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Language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Vanilla JavaScript (ES6+)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UI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011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Pure HTML5 + CSS3 (Glassmorphism)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023360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Fonts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25146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Inter + JetBrains Mono (Google Fonts)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Charts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Custom CSS bar chart components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4023360" cy="402336"/>
          </a:xfrm>
          <a:prstGeom prst="rect">
            <a:avLst/>
          </a:prstGeom>
          <a:solidFill>
            <a:srgbClr val="F8FAFE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204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Algorithm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3520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DP, Greedy, WMA, PQ ; all in-browser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</a:rPr>
              <a:t>Currency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4023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Pakistani Rupee (PKR)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Data Model: Expense Item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574364"/>
              </p:ext>
            </p:extLst>
          </p:nvPr>
        </p:nvGraphicFramePr>
        <p:xfrm>
          <a:off x="4754880" y="1508760"/>
          <a:ext cx="4023360" cy="1463040"/>
        </p:xfrm>
        <a:graphic>
          <a:graphicData uri="http://schemas.openxmlformats.org/drawingml/2006/table">
            <a:tbl>
              <a:tblPr/>
              <a:tblGrid>
                <a:gridCol w="107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Category label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Monthly PKR amount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1–10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User-set priority 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weight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cost ÷ 100 (knapsack unit)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= priority (knapsack value)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Data Model: Savings Goal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23882"/>
              </p:ext>
            </p:extLst>
          </p:nvPr>
        </p:nvGraphicFramePr>
        <p:xfrm>
          <a:off x="4754880" y="3291840"/>
          <a:ext cx="3886200" cy="146304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Goal label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Total PKR needed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months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Months until deadline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1–10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Importance 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urgency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calc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priority ÷ months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Features &amp; 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All computation runs client-side, zero server, zero latency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05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0058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Provably optimal budget selection via DP knapsack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Transparent DP vs Greedy benchmark on every run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202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19202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WMA forecast flags spending risks before they happen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346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PQ rebalancer suggests exact cuts with priority respect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346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8346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FD"/>
                </a:solidFill>
              </a:rPr>
              <a:t>PKR-native, designed for Pakistani household budgets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8321040" cy="8778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8138160" cy="8778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Fiscal Forge demonstrates how algorithmic thinking, knapsack DP, greedy, WMA, and priority queues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can be applied directly to everyday personal finance challenges in a clean, accessible web interface.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954</Words>
  <Application>Microsoft Office PowerPoint</Application>
  <PresentationFormat>On-screen Show (16:9)</PresentationFormat>
  <Paragraphs>203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 Forge – Budget Optimizer</dc:title>
  <dc:subject>PptxGenJS Presentation</dc:subject>
  <dc:creator>Fiscal Forge</dc:creator>
  <cp:lastModifiedBy>Administrator</cp:lastModifiedBy>
  <cp:revision>8</cp:revision>
  <dcterms:created xsi:type="dcterms:W3CDTF">2026-05-29T13:10:56Z</dcterms:created>
  <dcterms:modified xsi:type="dcterms:W3CDTF">2026-05-31T09:29:06Z</dcterms:modified>
</cp:coreProperties>
</file>